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4B5FD"/>
                </a:solidFill>
                <a:latin typeface="Calibri"/>
              </a:rPr>
              <a:t>AI-POWERED FACT CHECKING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0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 i="0">
                <a:solidFill>
                  <a:srgbClr val="FFFFFF"/>
                </a:solidFill>
                <a:latin typeface="Calibri"/>
              </a:rPr>
              <a:t>VeriLens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103601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0" i="1">
                <a:solidFill>
                  <a:srgbClr val="F9A8D4"/>
                </a:solidFill>
                <a:latin typeface="Calibri"/>
              </a:rPr>
              <a:t>Verify Before You Believe.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DDD6FE"/>
                </a:solidFill>
                <a:latin typeface="Calibri"/>
              </a:rPr>
              <a:t>An AI-powered fake news detector: retrieve real evidence, verify the claim, explain the verdict.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53128" y="4983480"/>
            <a:ext cx="3291840" cy="3200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25780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Shree Deore   ·   Krish Dalvi   ·   Vaishnavi Rathi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A78BFA"/>
                </a:solidFill>
                <a:latin typeface="Calibri"/>
              </a:rPr>
              <a:t>Built with ❤️ by Algorithm Avengers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2926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600"/>
              </a:spcAft>
            </a:pPr>
            <a:r>
              <a:rPr sz="1900">
                <a:solidFill>
                  <a:srgbClr val="1E1B3A"/>
                </a:solidFill>
                <a:latin typeface="Calibri"/>
              </a:rPr>
              <a:t>▪  Misinformation spreads faster than verified facts — it reaches more people, sooner.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E1B3A"/>
                </a:solidFill>
                <a:latin typeface="Calibri"/>
              </a:rPr>
              <a:t>▪  Readers cannot manually verify every claim they see on social media.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E1B3A"/>
                </a:solidFill>
                <a:latin typeface="Calibri"/>
              </a:rPr>
              <a:t>▪  Viral fake news erodes public trust in real journalism and institutions.</a:t>
            </a:r>
          </a:p>
          <a:p>
            <a:pPr>
              <a:spcAft>
                <a:spcPts val="1600"/>
              </a:spcAft>
            </a:pPr>
            <a:r>
              <a:rPr sz="1900">
                <a:solidFill>
                  <a:srgbClr val="1E1B3A"/>
                </a:solidFill>
                <a:latin typeface="Calibri"/>
              </a:rPr>
              <a:t>▪  Most people lack a fast, trustworthy way to check a claim before sharing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12064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ED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534924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6D28D9"/>
                </a:solidFill>
                <a:latin typeface="Calibri"/>
              </a:rPr>
              <a:t>“Falsehoods spread significantly faster than the truth online.”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760720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  <a:latin typeface="Calibri"/>
              </a:rPr>
              <a:t>— MIT Media Lab, “The Spread of True and False News Online”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The Solution — RAG-Based Fact Checking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300"/>
              </a:spcAft>
            </a:pPr>
            <a:r>
              <a:rPr sz="1800">
                <a:solidFill>
                  <a:srgbClr val="1E1B3A"/>
                </a:solidFill>
                <a:latin typeface="Calibri"/>
              </a:rPr>
              <a:t>▪  VeriLens verifies a claim by retrieving real web evidence — it never invents facts.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1E1B3A"/>
                </a:solidFill>
                <a:latin typeface="Calibri"/>
              </a:rPr>
              <a:t>▪  A RAG (Retrieval-Augmented Generation) pipeline extracts relevant passages and classifies them as supporting, contradicting or neutral.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1E1B3A"/>
                </a:solidFill>
                <a:latin typeface="Calibri"/>
              </a:rPr>
              <a:t>▪  A deterministic verifier aggregates the evidence into a clear verdict (Supported / Contradicted / Mixed / Unverified).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1E1B3A"/>
                </a:solidFill>
                <a:latin typeface="Calibri"/>
              </a:rPr>
              <a:t>▪  An LLM writes a short, evidence-grounded analysis — strictly from the retrieved material.</a:t>
            </a:r>
          </a:p>
          <a:p>
            <a:pPr>
              <a:spcAft>
                <a:spcPts val="1300"/>
              </a:spcAft>
            </a:pPr>
            <a:r>
              <a:rPr sz="1800">
                <a:solidFill>
                  <a:srgbClr val="6D28D9"/>
                </a:solidFill>
                <a:latin typeface="Calibri"/>
              </a:rPr>
              <a:t>▪  If evidence is insufficient, VeriLens honestly says UNVERIFIED instead of guessing.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TECH WE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874519"/>
            <a:ext cx="105430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56815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8D9"/>
                </a:solidFill>
                <a:latin typeface="Calibri"/>
              </a:rPr>
              <a:t>Backend /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027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1B3A"/>
                </a:solidFill>
                <a:latin typeface="Calibri"/>
              </a:rPr>
              <a:t>Python 3 · FastAPI · Uvicorn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84248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REST API with automatic Swagger docs, Pydantic validation, CORS and error handling.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642615"/>
            <a:ext cx="105430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724911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8D9"/>
                </a:solidFill>
                <a:latin typeface="Calibri"/>
              </a:rPr>
              <a:t>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08375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1B3A"/>
                </a:solidFill>
                <a:latin typeface="Calibri"/>
              </a:rPr>
              <a:t>Tavily / Serper web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52344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Real-time evidence from the web with source authority ranking.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410711"/>
            <a:ext cx="105430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493007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8D9"/>
                </a:solidFill>
                <a:latin typeface="Calibri"/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764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1B3A"/>
                </a:solidFill>
                <a:latin typeface="Calibri"/>
              </a:rPr>
              <a:t>OpenAI (GPT-4o-mini) / Groq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520439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Grounded explanations; deterministic rule-based fallback when offline.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178807"/>
            <a:ext cx="105430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61103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8D9"/>
                </a:solidFill>
                <a:latin typeface="Calibri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44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1B3A"/>
                </a:solidFill>
                <a:latin typeface="Calibri"/>
              </a:rPr>
              <a:t>HTML · CSS · Vanilla 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88536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Fast, dependency-free chat &amp; verification UI with dark mode.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946903"/>
            <a:ext cx="105430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029199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8D9"/>
                </a:solidFill>
                <a:latin typeface="Calibri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3126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1B3A"/>
                </a:solidFill>
                <a:latin typeface="Calibri"/>
              </a:rPr>
              <a:t>pytest (158 tests)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056631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Offline, mocked, deterministic — no API keys required.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714999"/>
            <a:ext cx="10543032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797295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D28D9"/>
                </a:solidFill>
                <a:latin typeface="Calibri"/>
              </a:rPr>
              <a:t>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080759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E1B3A"/>
                </a:solidFill>
                <a:latin typeface="Calibri"/>
              </a:rPr>
              <a:t>Pydantic · rate limiting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824727"/>
            <a:ext cx="6583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Input validation, safe errors, prompt-injection guards, .env secrets.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How It Works — The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14813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C4899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697480"/>
            <a:ext cx="13350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1B3A"/>
                </a:solidFill>
                <a:latin typeface="Calibri"/>
              </a:rPr>
              <a:t>User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246120"/>
            <a:ext cx="12618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User enters a news claim in VeriLens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7432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D28D9"/>
                </a:solidFill>
                <a:latin typeface="Calibr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7128" y="2148840"/>
            <a:ext cx="14813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8568" y="228600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C4899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697480"/>
            <a:ext cx="13350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1B3A"/>
                </a:solidFill>
                <a:latin typeface="Calibri"/>
              </a:rPr>
              <a:t>Web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6856" y="3246120"/>
            <a:ext cx="12618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Search APIs fetch real articles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7432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D28D9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31336" y="2148840"/>
            <a:ext cx="14813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22776" y="228600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C4899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04488" y="2697480"/>
            <a:ext cx="13350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1B3A"/>
                </a:solidFill>
                <a:latin typeface="Calibri"/>
              </a:rPr>
              <a:t>Evidence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1064" y="3246120"/>
            <a:ext cx="12618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Relevant passages are selected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94376" y="27432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D28D9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95544" y="2148840"/>
            <a:ext cx="14813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6984" y="228600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C4899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68696" y="2697480"/>
            <a:ext cx="13350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1B3A"/>
                </a:solidFill>
                <a:latin typeface="Calibri"/>
              </a:rPr>
              <a:t>Classification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05272" y="3246120"/>
            <a:ext cx="12618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Supporting / contradicting / neutral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4" y="27432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D28D9"/>
                </a:solidFill>
                <a:latin typeface="Calibri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9752" y="2148840"/>
            <a:ext cx="14813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51192" y="228600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C4899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697480"/>
            <a:ext cx="13350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1B3A"/>
                </a:solidFill>
                <a:latin typeface="Calibri"/>
              </a:rPr>
              <a:t>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3246120"/>
            <a:ext cx="12618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Verdict + confidence is computed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22792" y="27432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D28D9"/>
                </a:solidFill>
                <a:latin typeface="Calibr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2148840"/>
            <a:ext cx="14813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228600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C4899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97112" y="2697480"/>
            <a:ext cx="13350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1B3A"/>
                </a:solidFill>
                <a:latin typeface="Calibri"/>
              </a:rPr>
              <a:t>LLM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33688" y="3246120"/>
            <a:ext cx="12618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Grounded explanation is generated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274320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6D28D9"/>
                </a:solidFill>
                <a:latin typeface="Calibri"/>
              </a:rPr>
              <a:t>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88168" y="2148840"/>
            <a:ext cx="1481328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79608" y="2286000"/>
            <a:ext cx="129844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EC4899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61320" y="2697480"/>
            <a:ext cx="13350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1B3A"/>
                </a:solidFill>
                <a:latin typeface="Calibri"/>
              </a:rPr>
              <a:t>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97896" y="3246120"/>
            <a:ext cx="126187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Verdict, evidence &amp; sources shown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4709160"/>
            <a:ext cx="10543032" cy="1051560"/>
          </a:xfrm>
          <a:prstGeom prst="roundRect">
            <a:avLst>
              <a:gd name="adj" fmla="val 8000"/>
            </a:avLst>
          </a:prstGeom>
          <a:solidFill>
            <a:srgbClr val="ED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4892040"/>
            <a:ext cx="10058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6D28D9"/>
                </a:solidFill>
                <a:latin typeface="Calibri"/>
              </a:rPr>
              <a:t>Evidence first. The LLM only sees retrieved evidence — never its own knowledge — and every citation is cross-checked against real sources.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PRODUCT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Screenshot — Landing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540" y="1874519"/>
            <a:ext cx="8814615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144768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Clean hero: “Verify Before You Believe.” with a one-click claim input.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PRODUCT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Screenshot — Entering a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340" y="1874519"/>
            <a:ext cx="8817014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144768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Typing a claim — live character counter and the Verify Claim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PRODUCT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Screenshot — Verification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452" y="1874519"/>
            <a:ext cx="8282791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144768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Verdict, confidence, claim recap, AI analysis and evidence cards with source + similarity.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PRODUCT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Screenshot — Hero &amp; Product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5864" y="1874519"/>
            <a:ext cx="8299967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144768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B7280"/>
                </a:solidFill>
                <a:latin typeface="Calibri"/>
              </a:rPr>
              <a:t>Full landing experience with team footer (“Built with ❤️ by Algorithm Avengers”).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WHAT YOU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  <a:latin typeface="Calibri"/>
              </a:rPr>
              <a:t>Verdict + 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6888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Clear verdict badge with a confidence meter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96596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  <a:latin typeface="Calibri"/>
              </a:rPr>
              <a:t>Evidence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Source and similarity shown for every passage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20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  <a:latin typeface="Calibri"/>
              </a:rPr>
              <a:t>AI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8620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Short, evidence-grounded explanation for each claim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8328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5204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  <a:latin typeface="Calibri"/>
              </a:rPr>
              <a:t>Chatbot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8620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Follow-up questions like “Why?” or “Show evidence”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0060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9377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  <a:latin typeface="Calibri"/>
              </a:rPr>
              <a:t>Dark Mode &amp; History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30352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Conversation persists across reloads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800600"/>
            <a:ext cx="512064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9377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6D28D9"/>
                </a:solidFill>
                <a:latin typeface="Calibri"/>
              </a:rPr>
              <a:t>API &amp; Docs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03520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B7280"/>
                </a:solidFill>
                <a:latin typeface="Calibri"/>
              </a:rPr>
              <a:t>Public REST API with Swagger docs (/docs)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BUILT SAFELY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10515600" cy="3840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1E1B3A"/>
                </a:solidFill>
                <a:latin typeface="Calibri"/>
              </a:rPr>
              <a:t>▪  Input validation — every claim is length-capped, trimmed and type-checked (HTTP 422 for bad input).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E1B3A"/>
                </a:solidFill>
                <a:latin typeface="Calibri"/>
              </a:rPr>
              <a:t>▪  Secrets stay in .env — never committed, never sent to the frontend, never in error messages.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E1B3A"/>
                </a:solidFill>
                <a:latin typeface="Calibri"/>
              </a:rPr>
              <a:t>▪  Prompt-injection protection — user claims and retrieved web text are treated as data, not instructions.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E1B3A"/>
                </a:solidFill>
                <a:latin typeface="Calibri"/>
              </a:rPr>
              <a:t>▪  Safe errors — internal stack traces and exception details never reach the user.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E1B3A"/>
                </a:solidFill>
                <a:latin typeface="Calibri"/>
              </a:rPr>
              <a:t>▪  Rate limiting on public endpoints (HTTP 429) to prevent accidental abuse.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1E1B3A"/>
                </a:solidFill>
                <a:latin typeface="Calibri"/>
              </a:rPr>
              <a:t>▪  Configurable CORS with credentials disabled.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158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DDD6FE"/>
                </a:solidFill>
                <a:latin typeface="Calibri"/>
              </a:rPr>
              <a:t>automated tests · 0 failing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01168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2860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8803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DE8F3"/>
                </a:solidFill>
                <a:latin typeface="Calibri"/>
              </a:rPr>
              <a:t>offline &amp; mocked — no API keys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2011680"/>
            <a:ext cx="3776472" cy="1371600"/>
          </a:xfrm>
          <a:prstGeom prst="roundRect">
            <a:avLst>
              <a:gd name="adj" fmla="val 8000"/>
            </a:avLst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286000"/>
            <a:ext cx="37764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pytest -q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880360"/>
            <a:ext cx="3776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EDD5"/>
                </a:solidFill>
                <a:latin typeface="Calibri"/>
              </a:rPr>
              <a:t>one command to verify everything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10515600" cy="22860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100"/>
              </a:spcAft>
            </a:pPr>
            <a:r>
              <a:rPr sz="1600">
                <a:solidFill>
                  <a:srgbClr val="1E1B3A"/>
                </a:solidFill>
                <a:latin typeface="Calibri"/>
              </a:rPr>
              <a:t>▪  Retrieval, evidence extraction, classification, explainer and the full RAG pipeline.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E1B3A"/>
                </a:solidFill>
                <a:latin typeface="Calibri"/>
              </a:rPr>
              <a:t>▪  API layer: health, valid/invalid requests, safe errors, CORS and rate limiting.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1E1B3A"/>
                </a:solidFill>
                <a:latin typeface="Calibri"/>
              </a:rPr>
              <a:t>▪  Chatbot, follow-ups, and security (prompt injection, secret exposure, unsafe content).</a:t>
            </a:r>
          </a:p>
          <a:p>
            <a:pPr>
              <a:spcAft>
                <a:spcPts val="1100"/>
              </a:spcAft>
            </a:pPr>
            <a:r>
              <a:rPr sz="1600">
                <a:solidFill>
                  <a:srgbClr val="6D28D9"/>
                </a:solidFill>
                <a:latin typeface="Calibri"/>
              </a:rPr>
              <a:t>▪  Deterministic and repeatable — fast enough for every commit.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8686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D28D9"/>
                </a:solidFill>
                <a:latin typeface="Calibri"/>
              </a:rPr>
              <a:t>SEE IT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E1B3A"/>
                </a:solidFill>
                <a:latin typeface="Calibri"/>
              </a:rPr>
              <a:t>Demo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54864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27632"/>
            <a:ext cx="11183112" cy="18288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20824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1B3A"/>
                </a:solidFill>
                <a:latin typeface="Calibri"/>
              </a:rPr>
              <a:t>Open VeriLens and type a claim — e.g. “India won the 2023 Cricket World Cup.”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624328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79192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1B3A"/>
                </a:solidFill>
                <a:latin typeface="Calibri"/>
              </a:rPr>
              <a:t>Hit Verify Claim; watch retrieval, evidence extraction and verification run.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82696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5584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337560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1B3A"/>
                </a:solidFill>
                <a:latin typeface="Calibri"/>
              </a:rPr>
              <a:t>Read the verdict, confidence and AI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41063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14215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995927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1B3A"/>
                </a:solidFill>
                <a:latin typeface="Calibri"/>
              </a:rPr>
              <a:t>Open the evidence cards and inspect real sources.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599431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672583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654295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1B3A"/>
                </a:solidFill>
                <a:latin typeface="Calibri"/>
              </a:rPr>
              <a:t>Ask a follow-up (“Why?”) and get an evidence-based answer.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257799"/>
            <a:ext cx="502920" cy="5029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30951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312663"/>
            <a:ext cx="9692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E1B3A"/>
                </a:solidFill>
                <a:latin typeface="Calibri"/>
              </a:rPr>
              <a:t>Try an uncertain claim → honest UNVERIFIED. Try malicious input → no secrets leak.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VeriLens · AI-Powered Fake News Detector · Algorithm Avengers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C1D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6015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F9A8D4"/>
                </a:solidFill>
                <a:latin typeface="Calibri"/>
              </a:rPr>
              <a:t>Questions? Let's verify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53128" y="3840480"/>
            <a:ext cx="3291840" cy="32004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Shree Deore   ·   Krish Dalvi   ·   Vaishnavi Rathi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A78BFA"/>
                </a:solidFill>
                <a:latin typeface="Calibri"/>
              </a:rPr>
              <a:t>Built with ❤️ by Algorithm Avengers  ·  VeriLens 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